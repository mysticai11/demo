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8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-457200"/>
            <a:ext cx="4572000" cy="4572000"/>
          </a:xfrm>
          <a:prstGeom prst="ellipse">
            <a:avLst/>
          </a:prstGeom>
          <a:solidFill>
            <a:srgbClr val="00C47D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0" y="1828800"/>
            <a:ext cx="5486400" cy="5486400"/>
          </a:xfrm>
          <a:prstGeom prst="ellipse">
            <a:avLst/>
          </a:prstGeom>
          <a:solidFill>
            <a:srgbClr val="3D8EF8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0" y="0"/>
            <a:ext cx="3657600" cy="3657600"/>
          </a:xfrm>
          <a:prstGeom prst="ellipse">
            <a:avLst/>
          </a:prstGeom>
          <a:solidFill>
            <a:srgbClr val="F5A623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57200" y="2286000"/>
            <a:ext cx="4572000" cy="4572000"/>
          </a:xfrm>
          <a:prstGeom prst="ellipse">
            <a:avLst/>
          </a:prstGeom>
          <a:solidFill>
            <a:srgbClr val="E8394A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5116" y="1828800"/>
            <a:ext cx="10238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EEF2FF"/>
                </a:solidFill>
                <a:latin typeface="Poppins"/>
              </a:rPr>
              <a:t>Predictive Risk Intelligence for Metabolic Screening in Diabetes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5116" y="3200400"/>
            <a:ext cx="10238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0C47D"/>
                </a:solidFill>
                <a:latin typeface="Inter"/>
              </a:rPr>
              <a:t>LMSIS — Latent Metabolic State Inference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5116" y="4572000"/>
            <a:ext cx="1023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4A6380"/>
                </a:solidFill>
                <a:latin typeface="Inter"/>
              </a:rPr>
              <a:t>Karamjeet Singh (5244) • Sarandeep Singh (5244) • Ubaid Ahmad (5255) • Aiman Younus Dar (222176)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116" y="4937760"/>
            <a:ext cx="1023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00C47D"/>
                </a:solidFill>
                <a:latin typeface="Inter"/>
              </a:rPr>
              <a:t>SHMM Government Degree College Anantnag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5116" y="5303520"/>
            <a:ext cx="1023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4A6380"/>
                </a:solidFill>
                <a:latin typeface="Inter"/>
              </a:rPr>
              <a:t>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8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75116" y="2286000"/>
            <a:ext cx="10238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EEF2FF"/>
                </a:solidFill>
                <a:latin typeface="Poppins"/>
              </a:rPr>
              <a:t>Normal BMI. Normal cholesterol. No symptoms.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5116" y="3200400"/>
            <a:ext cx="10238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EEF2FF"/>
                </a:solidFill>
                <a:latin typeface="Poppins"/>
              </a:rPr>
              <a:t>Their doctor sent them home.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5116" y="4114800"/>
            <a:ext cx="10238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E8394A"/>
                </a:solidFill>
                <a:latin typeface="Poppins"/>
              </a:rPr>
              <a:t>They had severe liver disease.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8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128248" y="6042355"/>
            <a:ext cx="292608" cy="29260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 rot="33929200">
            <a:off x="11157508" y="6188659"/>
            <a:ext cx="234086" cy="219456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08476" y="1371600"/>
            <a:ext cx="1371600" cy="2743200"/>
          </a:xfrm>
          <a:prstGeom prst="rect">
            <a:avLst/>
          </a:prstGeom>
          <a:noFill/>
          <a:ln w="38100">
            <a:solidFill>
              <a:srgbClr val="1C2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19956" y="1097280"/>
            <a:ext cx="548640" cy="548640"/>
          </a:xfrm>
          <a:prstGeom prst="rect">
            <a:avLst/>
          </a:prstGeom>
          <a:noFill/>
          <a:ln w="38100">
            <a:solidFill>
              <a:srgbClr val="1C2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08476" y="43891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EEF2FF"/>
                </a:solidFill>
                <a:latin typeface="JetBrains Mono"/>
              </a:rPr>
              <a:t>BMI 22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8876" y="1371600"/>
            <a:ext cx="1371600" cy="2743200"/>
          </a:xfrm>
          <a:prstGeom prst="rect">
            <a:avLst/>
          </a:prstGeom>
          <a:noFill/>
          <a:ln w="38100">
            <a:solidFill>
              <a:srgbClr val="1C2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20356" y="1097280"/>
            <a:ext cx="548640" cy="548640"/>
          </a:xfrm>
          <a:prstGeom prst="rect">
            <a:avLst/>
          </a:prstGeom>
          <a:noFill/>
          <a:ln w="38100">
            <a:solidFill>
              <a:srgbClr val="1C2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8876" y="43891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EEF2FF"/>
                </a:solidFill>
                <a:latin typeface="JetBrains Mono"/>
              </a:rPr>
              <a:t>BMI 22</a:t>
            </a:r>
          </a:p>
        </p:txBody>
      </p:sp>
      <p:sp>
        <p:nvSpPr>
          <p:cNvPr id="10" name="Oval 9"/>
          <p:cNvSpPr/>
          <p:nvPr/>
        </p:nvSpPr>
        <p:spPr>
          <a:xfrm>
            <a:off x="7328915" y="2377440"/>
            <a:ext cx="731520" cy="731520"/>
          </a:xfrm>
          <a:prstGeom prst="ellipse">
            <a:avLst/>
          </a:prstGeom>
          <a:solidFill>
            <a:srgbClr val="F5A623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06156" y="2743200"/>
            <a:ext cx="457200" cy="254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5116" y="5486400"/>
            <a:ext cx="1023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EEF2FF"/>
                </a:solidFill>
                <a:latin typeface="Inter"/>
              </a:rPr>
              <a:t>BMI measures weight. It can't see where fat is hiding.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8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75116" y="1371600"/>
            <a:ext cx="4753600" cy="1828800"/>
          </a:xfrm>
          <a:prstGeom prst="rect">
            <a:avLst/>
          </a:prstGeom>
          <a:solidFill>
            <a:srgbClr val="0C111E"/>
          </a:solidFill>
          <a:ln w="12700">
            <a:solidFill>
              <a:srgbClr val="1C2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40876" y="1920240"/>
            <a:ext cx="731520" cy="731520"/>
          </a:xfrm>
          <a:prstGeom prst="ellipse">
            <a:avLst/>
          </a:prstGeom>
          <a:solidFill>
            <a:srgbClr val="F5A623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42044" y="2384755"/>
            <a:ext cx="82296" cy="131673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65488" y="2335377"/>
            <a:ext cx="82296" cy="23042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788932" y="2286000"/>
            <a:ext cx="82296" cy="32918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38156" y="1828800"/>
            <a:ext cx="3107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EEF2FF"/>
                </a:solidFill>
                <a:latin typeface="Inter"/>
              </a:rPr>
              <a:t>Standard scores lose accuracy at normal weight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7356" y="1371600"/>
            <a:ext cx="4753600" cy="1828800"/>
          </a:xfrm>
          <a:prstGeom prst="rect">
            <a:avLst/>
          </a:prstGeom>
          <a:solidFill>
            <a:srgbClr val="0C111E"/>
          </a:solidFill>
          <a:ln w="12700">
            <a:solidFill>
              <a:srgbClr val="1C2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643116" y="1920240"/>
            <a:ext cx="731520" cy="731520"/>
          </a:xfrm>
          <a:prstGeom prst="ellipse">
            <a:avLst/>
          </a:prstGeom>
          <a:solidFill>
            <a:srgbClr val="E8394A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864858" y="2286000"/>
            <a:ext cx="288036" cy="288036"/>
          </a:xfrm>
          <a:prstGeom prst="ellipse">
            <a:avLst/>
          </a:prstGeom>
          <a:solidFill>
            <a:srgbClr val="E83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64858" y="2113178"/>
            <a:ext cx="288036" cy="259232"/>
          </a:xfrm>
          <a:prstGeom prst="roundRect">
            <a:avLst/>
          </a:prstGeom>
          <a:solidFill>
            <a:srgbClr val="E83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40396" y="1828800"/>
            <a:ext cx="3107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EEF2FF"/>
                </a:solidFill>
                <a:latin typeface="Inter"/>
              </a:rPr>
              <a:t>One major score gets it backwards entirely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75116" y="3657600"/>
            <a:ext cx="4753600" cy="1828800"/>
          </a:xfrm>
          <a:prstGeom prst="rect">
            <a:avLst/>
          </a:prstGeom>
          <a:solidFill>
            <a:srgbClr val="0C111E"/>
          </a:solidFill>
          <a:ln w="12700">
            <a:solidFill>
              <a:srgbClr val="1C2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340876" y="4206240"/>
            <a:ext cx="731520" cy="731520"/>
          </a:xfrm>
          <a:prstGeom prst="ellipse">
            <a:avLst/>
          </a:prstGeom>
          <a:solidFill>
            <a:srgbClr val="3D8EF8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542044" y="4407408"/>
            <a:ext cx="329184" cy="205740"/>
          </a:xfrm>
          <a:prstGeom prst="rect">
            <a:avLst/>
          </a:prstGeom>
          <a:solidFill>
            <a:srgbClr val="3D8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 rot="33929200">
            <a:off x="1542044" y="4613148"/>
            <a:ext cx="329184" cy="205740"/>
          </a:xfrm>
          <a:prstGeom prst="roundRect">
            <a:avLst/>
          </a:prstGeom>
          <a:solidFill>
            <a:srgbClr val="3D8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38156" y="4114800"/>
            <a:ext cx="3107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EEF2FF"/>
                </a:solidFill>
                <a:latin typeface="Inter"/>
              </a:rPr>
              <a:t>AI models that work, but explain nothing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77356" y="3657600"/>
            <a:ext cx="4753600" cy="1828800"/>
          </a:xfrm>
          <a:prstGeom prst="rect">
            <a:avLst/>
          </a:prstGeom>
          <a:solidFill>
            <a:srgbClr val="0C111E"/>
          </a:solidFill>
          <a:ln w="12700">
            <a:solidFill>
              <a:srgbClr val="1C2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643116" y="4206240"/>
            <a:ext cx="731520" cy="731520"/>
          </a:xfrm>
          <a:prstGeom prst="ellipse">
            <a:avLst/>
          </a:prstGeom>
          <a:solidFill>
            <a:srgbClr val="E8394A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44284" y="4407408"/>
            <a:ext cx="329184" cy="329184"/>
          </a:xfrm>
          <a:prstGeom prst="ellipse">
            <a:avLst/>
          </a:prstGeom>
          <a:noFill/>
          <a:ln w="38100">
            <a:solidFill>
              <a:srgbClr val="E83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89826" y="4473244"/>
            <a:ext cx="38100" cy="98755"/>
          </a:xfrm>
          <a:prstGeom prst="rect">
            <a:avLst/>
          </a:prstGeom>
          <a:solidFill>
            <a:srgbClr val="E83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008876" y="4552950"/>
            <a:ext cx="82296" cy="38100"/>
          </a:xfrm>
          <a:prstGeom prst="rect">
            <a:avLst/>
          </a:prstGeom>
          <a:solidFill>
            <a:srgbClr val="E83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40396" y="4114800"/>
            <a:ext cx="3107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EEF2FF"/>
                </a:solidFill>
                <a:latin typeface="Inter"/>
              </a:rPr>
              <a:t>Confidence estimates that fail the riskiest patients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8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6556" y="1280160"/>
            <a:ext cx="731520" cy="731520"/>
          </a:xfrm>
          <a:prstGeom prst="ellipse">
            <a:avLst/>
          </a:prstGeom>
          <a:solidFill>
            <a:srgbClr val="00C47D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67724" y="1481328"/>
            <a:ext cx="329184" cy="205740"/>
          </a:xfrm>
          <a:prstGeom prst="rect">
            <a:avLst/>
          </a:prstGeom>
          <a:solidFill>
            <a:srgbClr val="00C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 rot="33929200">
            <a:off x="1267724" y="1687068"/>
            <a:ext cx="329184" cy="205740"/>
          </a:xfrm>
          <a:prstGeom prst="roundRect">
            <a:avLst/>
          </a:prstGeom>
          <a:solidFill>
            <a:srgbClr val="00C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72396" y="1371600"/>
            <a:ext cx="10238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EEF2FF"/>
                </a:solidFill>
                <a:latin typeface="Inter"/>
              </a:rPr>
              <a:t>Built specifically for normal-weight patients</a:t>
            </a:r>
          </a:p>
        </p:txBody>
      </p:sp>
      <p:sp>
        <p:nvSpPr>
          <p:cNvPr id="6" name="Oval 5"/>
          <p:cNvSpPr/>
          <p:nvPr/>
        </p:nvSpPr>
        <p:spPr>
          <a:xfrm>
            <a:off x="1066556" y="2194560"/>
            <a:ext cx="731520" cy="731520"/>
          </a:xfrm>
          <a:prstGeom prst="ellipse">
            <a:avLst/>
          </a:prstGeom>
          <a:solidFill>
            <a:srgbClr val="00C47D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67724" y="2395728"/>
            <a:ext cx="329184" cy="205740"/>
          </a:xfrm>
          <a:prstGeom prst="rect">
            <a:avLst/>
          </a:prstGeom>
          <a:solidFill>
            <a:srgbClr val="00C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 rot="33929200">
            <a:off x="1267724" y="2601468"/>
            <a:ext cx="329184" cy="205740"/>
          </a:xfrm>
          <a:prstGeom prst="roundRect">
            <a:avLst/>
          </a:prstGeom>
          <a:solidFill>
            <a:srgbClr val="00C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72396" y="2286000"/>
            <a:ext cx="10238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EEF2FF"/>
                </a:solidFill>
                <a:latin typeface="Inter"/>
              </a:rPr>
              <a:t>Risk scores tied to real medical tests</a:t>
            </a:r>
          </a:p>
        </p:txBody>
      </p:sp>
      <p:sp>
        <p:nvSpPr>
          <p:cNvPr id="10" name="Oval 9"/>
          <p:cNvSpPr/>
          <p:nvPr/>
        </p:nvSpPr>
        <p:spPr>
          <a:xfrm>
            <a:off x="1066556" y="3108960"/>
            <a:ext cx="731520" cy="731520"/>
          </a:xfrm>
          <a:prstGeom prst="ellipse">
            <a:avLst/>
          </a:prstGeom>
          <a:solidFill>
            <a:srgbClr val="00C47D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67724" y="3310128"/>
            <a:ext cx="329184" cy="205740"/>
          </a:xfrm>
          <a:prstGeom prst="rect">
            <a:avLst/>
          </a:prstGeom>
          <a:solidFill>
            <a:srgbClr val="00C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 rot="33929200">
            <a:off x="1267724" y="3515868"/>
            <a:ext cx="329184" cy="205740"/>
          </a:xfrm>
          <a:prstGeom prst="roundRect">
            <a:avLst/>
          </a:prstGeom>
          <a:solidFill>
            <a:srgbClr val="00C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72396" y="3200400"/>
            <a:ext cx="10238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EEF2FF"/>
                </a:solidFill>
                <a:latin typeface="Inter"/>
              </a:rPr>
              <a:t>Reliable confidence — even for the riskiest patients</a:t>
            </a:r>
          </a:p>
        </p:txBody>
      </p:sp>
      <p:sp>
        <p:nvSpPr>
          <p:cNvPr id="14" name="Oval 13"/>
          <p:cNvSpPr/>
          <p:nvPr/>
        </p:nvSpPr>
        <p:spPr>
          <a:xfrm>
            <a:off x="1066556" y="4023359"/>
            <a:ext cx="731520" cy="731520"/>
          </a:xfrm>
          <a:prstGeom prst="ellipse">
            <a:avLst/>
          </a:prstGeom>
          <a:solidFill>
            <a:srgbClr val="00C47D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67724" y="4224528"/>
            <a:ext cx="329184" cy="205740"/>
          </a:xfrm>
          <a:prstGeom prst="rect">
            <a:avLst/>
          </a:prstGeom>
          <a:solidFill>
            <a:srgbClr val="00C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 rot="33929200">
            <a:off x="1267724" y="4430268"/>
            <a:ext cx="329184" cy="205740"/>
          </a:xfrm>
          <a:prstGeom prst="roundRect">
            <a:avLst/>
          </a:prstGeom>
          <a:solidFill>
            <a:srgbClr val="00C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72396" y="4114800"/>
            <a:ext cx="10238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EEF2FF"/>
                </a:solidFill>
                <a:latin typeface="Inter"/>
              </a:rPr>
              <a:t>Plain explanations, not a black box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5116" y="5486400"/>
            <a:ext cx="1023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4A6380"/>
                </a:solidFill>
                <a:latin typeface="Inter"/>
              </a:rPr>
              <a:t>No existing system does all four. This one does.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8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75116" y="2743200"/>
            <a:ext cx="1828800" cy="1645920"/>
          </a:xfrm>
          <a:prstGeom prst="rect">
            <a:avLst/>
          </a:prstGeom>
          <a:solidFill>
            <a:srgbClr val="0C111E"/>
          </a:solidFill>
          <a:ln w="12700">
            <a:solidFill>
              <a:srgbClr val="1C2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23756" y="2743200"/>
            <a:ext cx="731520" cy="731520"/>
          </a:xfrm>
          <a:prstGeom prst="ellipse">
            <a:avLst/>
          </a:prstGeom>
          <a:solidFill>
            <a:srgbClr val="00C47D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745498" y="3108960"/>
            <a:ext cx="288036" cy="288036"/>
          </a:xfrm>
          <a:prstGeom prst="ellipse">
            <a:avLst/>
          </a:prstGeom>
          <a:solidFill>
            <a:srgbClr val="00C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745498" y="2936138"/>
            <a:ext cx="288036" cy="259232"/>
          </a:xfrm>
          <a:prstGeom prst="roundRect">
            <a:avLst/>
          </a:prstGeom>
          <a:solidFill>
            <a:srgbClr val="00C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5116" y="356616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EEF2FF"/>
                </a:solidFill>
                <a:latin typeface="Inter"/>
              </a:rPr>
              <a:t>Blood test values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849636" y="3474720"/>
            <a:ext cx="182880" cy="25400"/>
          </a:xfrm>
          <a:prstGeom prst="rect">
            <a:avLst/>
          </a:prstGeom>
          <a:solidFill>
            <a:srgbClr val="1C29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078236" y="2743200"/>
            <a:ext cx="1828800" cy="1645920"/>
          </a:xfrm>
          <a:prstGeom prst="rect">
            <a:avLst/>
          </a:prstGeom>
          <a:solidFill>
            <a:srgbClr val="0C111E"/>
          </a:solidFill>
          <a:ln w="12700">
            <a:solidFill>
              <a:srgbClr val="1C2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626876" y="2743200"/>
            <a:ext cx="731520" cy="731520"/>
          </a:xfrm>
          <a:prstGeom prst="ellipse">
            <a:avLst/>
          </a:prstGeom>
          <a:solidFill>
            <a:srgbClr val="3D8EF8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828044" y="3207715"/>
            <a:ext cx="82296" cy="131673"/>
          </a:xfrm>
          <a:prstGeom prst="rect">
            <a:avLst/>
          </a:prstGeom>
          <a:solidFill>
            <a:srgbClr val="3D8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51488" y="3158337"/>
            <a:ext cx="82296" cy="230428"/>
          </a:xfrm>
          <a:prstGeom prst="rect">
            <a:avLst/>
          </a:prstGeom>
          <a:solidFill>
            <a:srgbClr val="3D8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74932" y="3108960"/>
            <a:ext cx="82296" cy="329184"/>
          </a:xfrm>
          <a:prstGeom prst="rect">
            <a:avLst/>
          </a:prstGeom>
          <a:solidFill>
            <a:srgbClr val="3D8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78236" y="356616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EEF2FF"/>
                </a:solidFill>
                <a:latin typeface="Inter"/>
              </a:rPr>
              <a:t>Pattern read as a whole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52756" y="3474720"/>
            <a:ext cx="182880" cy="25400"/>
          </a:xfrm>
          <a:prstGeom prst="rect">
            <a:avLst/>
          </a:prstGeom>
          <a:solidFill>
            <a:srgbClr val="1C29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81356" y="2743200"/>
            <a:ext cx="1828800" cy="1645920"/>
          </a:xfrm>
          <a:prstGeom prst="rect">
            <a:avLst/>
          </a:prstGeom>
          <a:solidFill>
            <a:srgbClr val="0C111E"/>
          </a:solidFill>
          <a:ln w="12700">
            <a:solidFill>
              <a:srgbClr val="1C2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729996" y="2743200"/>
            <a:ext cx="731520" cy="731520"/>
          </a:xfrm>
          <a:prstGeom prst="ellipse">
            <a:avLst/>
          </a:prstGeom>
          <a:solidFill>
            <a:srgbClr val="F5A623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31164" y="3207715"/>
            <a:ext cx="82296" cy="131673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54608" y="3158337"/>
            <a:ext cx="82296" cy="23042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8052" y="3108960"/>
            <a:ext cx="82296" cy="32918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81356" y="356616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EEF2FF"/>
                </a:solidFill>
                <a:latin typeface="Inter"/>
              </a:rPr>
              <a:t>Two risk scores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55876" y="3474720"/>
            <a:ext cx="182880" cy="25400"/>
          </a:xfrm>
          <a:prstGeom prst="rect">
            <a:avLst/>
          </a:prstGeom>
          <a:solidFill>
            <a:srgbClr val="1C29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4476" y="2743200"/>
            <a:ext cx="1828800" cy="1645920"/>
          </a:xfrm>
          <a:prstGeom prst="rect">
            <a:avLst/>
          </a:prstGeom>
          <a:solidFill>
            <a:srgbClr val="0C111E"/>
          </a:solidFill>
          <a:ln w="12700">
            <a:solidFill>
              <a:srgbClr val="1C2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833116" y="2743200"/>
            <a:ext cx="731520" cy="731520"/>
          </a:xfrm>
          <a:prstGeom prst="ellipse">
            <a:avLst/>
          </a:prstGeom>
          <a:solidFill>
            <a:srgbClr val="E8394A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034284" y="2911449"/>
            <a:ext cx="329184" cy="329184"/>
          </a:xfrm>
          <a:prstGeom prst="ellipse">
            <a:avLst/>
          </a:prstGeom>
          <a:solidFill>
            <a:srgbClr val="E83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 rot="33929200">
            <a:off x="8067202" y="3076041"/>
            <a:ext cx="263347" cy="246888"/>
          </a:xfrm>
          <a:prstGeom prst="roundRect">
            <a:avLst/>
          </a:prstGeom>
          <a:solidFill>
            <a:srgbClr val="E83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84476" y="356616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EEF2FF"/>
                </a:solidFill>
                <a:latin typeface="Inter"/>
              </a:rPr>
              <a:t>Patient placed on a map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58996" y="3474720"/>
            <a:ext cx="182880" cy="25400"/>
          </a:xfrm>
          <a:prstGeom prst="rect">
            <a:avLst/>
          </a:prstGeom>
          <a:solidFill>
            <a:srgbClr val="1C29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387596" y="2743200"/>
            <a:ext cx="1828800" cy="1645920"/>
          </a:xfrm>
          <a:prstGeom prst="rect">
            <a:avLst/>
          </a:prstGeom>
          <a:solidFill>
            <a:srgbClr val="0C111E"/>
          </a:solidFill>
          <a:ln w="12700">
            <a:solidFill>
              <a:srgbClr val="1C2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36236" y="2743200"/>
            <a:ext cx="731520" cy="731520"/>
          </a:xfrm>
          <a:prstGeom prst="ellipse">
            <a:avLst/>
          </a:prstGeom>
          <a:solidFill>
            <a:srgbClr val="00C47D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137404" y="2944368"/>
            <a:ext cx="329184" cy="205740"/>
          </a:xfrm>
          <a:prstGeom prst="rect">
            <a:avLst/>
          </a:prstGeom>
          <a:solidFill>
            <a:srgbClr val="00C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 rot="33929200">
            <a:off x="10137404" y="3150108"/>
            <a:ext cx="329184" cy="205740"/>
          </a:xfrm>
          <a:prstGeom prst="roundRect">
            <a:avLst/>
          </a:prstGeom>
          <a:solidFill>
            <a:srgbClr val="00C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87596" y="356616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EEF2FF"/>
                </a:solidFill>
                <a:latin typeface="Inter"/>
              </a:rPr>
              <a:t>Confidence + route to safety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5116" y="5943600"/>
            <a:ext cx="1023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4A6380"/>
                </a:solidFill>
                <a:latin typeface="Inter"/>
              </a:rPr>
              <a:t>Implemented as an identifiable generative model, anchored to real clinical measurements — full detail in the written report.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8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75116" y="2743200"/>
            <a:ext cx="10238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EEF2FF"/>
                </a:solidFill>
                <a:latin typeface="Poppins"/>
              </a:rPr>
              <a:t>Live demonstration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8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75116" y="5486400"/>
            <a:ext cx="1023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EEF2FF"/>
                </a:solidFill>
                <a:latin typeface="Inter"/>
              </a:rPr>
              <a:t>One widely used clinical score ranks sicker patients as healthier.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5116" y="1371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0">
                <a:solidFill>
                  <a:srgbClr val="EEF2FF"/>
                </a:solidFill>
                <a:latin typeface="Inter"/>
              </a:rPr>
              <a:t>LMSIS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86796" y="1463040"/>
            <a:ext cx="2926080" cy="365760"/>
          </a:xfrm>
          <a:prstGeom prst="rect">
            <a:avLst/>
          </a:prstGeom>
          <a:solidFill>
            <a:srgbClr val="00C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4316" y="137160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00C47D"/>
                </a:solidFill>
                <a:latin typeface="JetBrains Mono"/>
              </a:rPr>
              <a:t>0.80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5116" y="21031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0">
                <a:solidFill>
                  <a:srgbClr val="EEF2FF"/>
                </a:solidFill>
                <a:latin typeface="Inter"/>
              </a:rPr>
              <a:t>Score A</a:t>
            </a:r>
          </a:p>
        </p:txBody>
      </p:sp>
      <p:sp>
        <p:nvSpPr>
          <p:cNvPr id="7" name="Rectangle 6"/>
          <p:cNvSpPr/>
          <p:nvPr/>
        </p:nvSpPr>
        <p:spPr>
          <a:xfrm>
            <a:off x="2986796" y="2194560"/>
            <a:ext cx="2194560" cy="365760"/>
          </a:xfrm>
          <a:prstGeom prst="rect">
            <a:avLst/>
          </a:prstGeom>
          <a:solidFill>
            <a:srgbClr val="4A6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72796" y="21031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A6380"/>
                </a:solidFill>
                <a:latin typeface="JetBrains Mono"/>
              </a:rPr>
              <a:t>0.60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116" y="28346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0">
                <a:solidFill>
                  <a:srgbClr val="EEF2FF"/>
                </a:solidFill>
                <a:latin typeface="Inter"/>
              </a:rPr>
              <a:t>Score B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86796" y="2926080"/>
            <a:ext cx="1828800" cy="365760"/>
          </a:xfrm>
          <a:prstGeom prst="rect">
            <a:avLst/>
          </a:prstGeom>
          <a:solidFill>
            <a:srgbClr val="4A6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7036" y="283464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A6380"/>
                </a:solidFill>
                <a:latin typeface="JetBrains Mono"/>
              </a:rPr>
              <a:t>0.50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5116" y="3566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0">
                <a:solidFill>
                  <a:srgbClr val="EEF2FF"/>
                </a:solidFill>
                <a:latin typeface="Inter"/>
              </a:rPr>
              <a:t>Score 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86796" y="3657600"/>
            <a:ext cx="1463040" cy="365760"/>
          </a:xfrm>
          <a:prstGeom prst="rect">
            <a:avLst/>
          </a:prstGeom>
          <a:solidFill>
            <a:srgbClr val="4A6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1276" y="35661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A6380"/>
                </a:solidFill>
                <a:latin typeface="JetBrains Mono"/>
              </a:rPr>
              <a:t>0.40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5116" y="4297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0">
                <a:solidFill>
                  <a:srgbClr val="EEF2FF"/>
                </a:solidFill>
                <a:latin typeface="Inter"/>
              </a:rPr>
              <a:t>Flawed Score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23756" y="4389120"/>
            <a:ext cx="1463040" cy="365760"/>
          </a:xfrm>
          <a:prstGeom prst="rect">
            <a:avLst/>
          </a:prstGeom>
          <a:solidFill>
            <a:srgbClr val="E83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6476" y="42976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8394A"/>
                </a:solidFill>
                <a:latin typeface="JetBrains Mono"/>
              </a:rPr>
              <a:t>-0.40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86796" y="1188720"/>
            <a:ext cx="25400" cy="3657600"/>
          </a:xfrm>
          <a:prstGeom prst="rect">
            <a:avLst/>
          </a:prstGeom>
          <a:solidFill>
            <a:srgbClr val="1C29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8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75116" y="5486400"/>
            <a:ext cx="1023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EEF2FF"/>
                </a:solidFill>
                <a:latin typeface="Inter"/>
              </a:rPr>
              <a:t>Standard methods miss the riskiest patients. This fixes that.</a:t>
            </a:r>
          </a:p>
        </p:txBody>
      </p:sp>
      <p:sp>
        <p:nvSpPr>
          <p:cNvPr id="3" name="Rectangle 2"/>
          <p:cNvSpPr/>
          <p:nvPr/>
        </p:nvSpPr>
        <p:spPr>
          <a:xfrm>
            <a:off x="4265676" y="2743200"/>
            <a:ext cx="1371600" cy="1828800"/>
          </a:xfrm>
          <a:prstGeom prst="rect">
            <a:avLst/>
          </a:prstGeom>
          <a:solidFill>
            <a:srgbClr val="4A6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265676" y="21945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4A6380"/>
                </a:solidFill>
                <a:latin typeface="JetBrains Mono"/>
              </a:rPr>
              <a:t>81.6%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65676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4A6380"/>
                </a:solidFill>
                <a:latin typeface="Inter"/>
              </a:rPr>
              <a:t>Before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51676" y="1371600"/>
            <a:ext cx="1371600" cy="3200400"/>
          </a:xfrm>
          <a:prstGeom prst="rect">
            <a:avLst/>
          </a:prstGeom>
          <a:solidFill>
            <a:srgbClr val="00C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51676" y="8229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0C47D"/>
                </a:solidFill>
                <a:latin typeface="JetBrains Mono"/>
              </a:rPr>
              <a:t>90.4%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1676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EEF2FF"/>
                </a:solidFill>
                <a:latin typeface="Inter"/>
              </a:rPr>
              <a:t>After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8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200400" y="914400"/>
            <a:ext cx="5486400" cy="5486400"/>
          </a:xfrm>
          <a:prstGeom prst="ellipse">
            <a:avLst/>
          </a:prstGeom>
          <a:solidFill>
            <a:srgbClr val="00C47D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75116" y="1828800"/>
            <a:ext cx="4753600" cy="2743200"/>
          </a:xfrm>
          <a:prstGeom prst="rect">
            <a:avLst/>
          </a:prstGeom>
          <a:solidFill>
            <a:srgbClr val="0C111E"/>
          </a:solidFill>
          <a:ln w="12700">
            <a:solidFill>
              <a:srgbClr val="1C2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340876" y="2011680"/>
            <a:ext cx="731520" cy="731520"/>
          </a:xfrm>
          <a:prstGeom prst="ellipse">
            <a:avLst/>
          </a:prstGeom>
          <a:solidFill>
            <a:srgbClr val="00C47D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42044" y="2212848"/>
            <a:ext cx="329184" cy="329184"/>
          </a:xfrm>
          <a:prstGeom prst="ellipse">
            <a:avLst/>
          </a:prstGeom>
          <a:noFill/>
          <a:ln w="38100">
            <a:solidFill>
              <a:srgbClr val="00C4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87586" y="2278684"/>
            <a:ext cx="38100" cy="98755"/>
          </a:xfrm>
          <a:prstGeom prst="rect">
            <a:avLst/>
          </a:prstGeom>
          <a:solidFill>
            <a:srgbClr val="00C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706636" y="2358390"/>
            <a:ext cx="82296" cy="38100"/>
          </a:xfrm>
          <a:prstGeom prst="rect">
            <a:avLst/>
          </a:prstGeom>
          <a:solidFill>
            <a:srgbClr val="00C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40876" y="2926080"/>
            <a:ext cx="402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A6380"/>
                </a:solidFill>
                <a:latin typeface="Inter"/>
              </a:rPr>
              <a:t>Tested two years later, on patients never seen 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40876" y="3657600"/>
            <a:ext cx="402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47D"/>
                </a:solidFill>
                <a:latin typeface="JetBrains Mono"/>
              </a:rPr>
              <a:t>ρ = 0.583 ± 0.027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7356" y="1828800"/>
            <a:ext cx="4753600" cy="2743200"/>
          </a:xfrm>
          <a:prstGeom prst="rect">
            <a:avLst/>
          </a:prstGeom>
          <a:solidFill>
            <a:srgbClr val="0C111E"/>
          </a:solidFill>
          <a:ln w="12700">
            <a:solidFill>
              <a:srgbClr val="1C2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43116" y="2011680"/>
            <a:ext cx="731520" cy="731520"/>
          </a:xfrm>
          <a:prstGeom prst="ellipse">
            <a:avLst/>
          </a:prstGeom>
          <a:solidFill>
            <a:srgbClr val="3D8EF8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44284" y="2212848"/>
            <a:ext cx="329184" cy="205740"/>
          </a:xfrm>
          <a:prstGeom prst="rect">
            <a:avLst/>
          </a:prstGeom>
          <a:solidFill>
            <a:srgbClr val="3D8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 rot="33929200">
            <a:off x="6844284" y="2418588"/>
            <a:ext cx="329184" cy="205740"/>
          </a:xfrm>
          <a:prstGeom prst="roundRect">
            <a:avLst/>
          </a:prstGeom>
          <a:solidFill>
            <a:srgbClr val="3D8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3116" y="2926080"/>
            <a:ext cx="402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A6380"/>
                </a:solidFill>
                <a:latin typeface="Inter"/>
              </a:rPr>
              <a:t>Tested on a separate population group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3116" y="3657600"/>
            <a:ext cx="402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3D8EF8"/>
                </a:solidFill>
                <a:latin typeface="JetBrains Mono"/>
              </a:rPr>
              <a:t>ρ = 0.582 (N=355)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8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75116" y="1371600"/>
            <a:ext cx="10238720" cy="914400"/>
          </a:xfrm>
          <a:prstGeom prst="rect">
            <a:avLst/>
          </a:prstGeom>
          <a:solidFill>
            <a:srgbClr val="0C111E"/>
          </a:solidFill>
          <a:ln w="12700">
            <a:solidFill>
              <a:srgbClr val="1C2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57996" y="1463040"/>
            <a:ext cx="731520" cy="731520"/>
          </a:xfrm>
          <a:prstGeom prst="ellipse">
            <a:avLst/>
          </a:prstGeom>
          <a:solidFill>
            <a:srgbClr val="00C47D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359164" y="1631289"/>
            <a:ext cx="329184" cy="329184"/>
          </a:xfrm>
          <a:prstGeom prst="ellipse">
            <a:avLst/>
          </a:prstGeom>
          <a:solidFill>
            <a:srgbClr val="00C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33929200">
            <a:off x="1392082" y="1795881"/>
            <a:ext cx="263347" cy="246888"/>
          </a:xfrm>
          <a:prstGeom prst="roundRect">
            <a:avLst/>
          </a:prstGeom>
          <a:solidFill>
            <a:srgbClr val="00C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63836" y="1554480"/>
            <a:ext cx="877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EF2FF"/>
                </a:solidFill>
                <a:latin typeface="Inter"/>
              </a:rPr>
              <a:t>Risk scores mathematically anchored to real clinical measurements, not left as an unexplainable black box</a:t>
            </a:r>
          </a:p>
        </p:txBody>
      </p:sp>
      <p:sp>
        <p:nvSpPr>
          <p:cNvPr id="7" name="Rectangle 6"/>
          <p:cNvSpPr/>
          <p:nvPr/>
        </p:nvSpPr>
        <p:spPr>
          <a:xfrm>
            <a:off x="975116" y="2468880"/>
            <a:ext cx="10238720" cy="914400"/>
          </a:xfrm>
          <a:prstGeom prst="rect">
            <a:avLst/>
          </a:prstGeom>
          <a:solidFill>
            <a:srgbClr val="0C111E"/>
          </a:solidFill>
          <a:ln w="12700">
            <a:solidFill>
              <a:srgbClr val="1C2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996" y="2560320"/>
            <a:ext cx="731520" cy="731520"/>
          </a:xfrm>
          <a:prstGeom prst="ellipse">
            <a:avLst/>
          </a:prstGeom>
          <a:solidFill>
            <a:srgbClr val="3D8EF8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59164" y="2761488"/>
            <a:ext cx="329184" cy="205740"/>
          </a:xfrm>
          <a:prstGeom prst="rect">
            <a:avLst/>
          </a:prstGeom>
          <a:solidFill>
            <a:srgbClr val="3D8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33929200">
            <a:off x="1359164" y="2967228"/>
            <a:ext cx="329184" cy="205740"/>
          </a:xfrm>
          <a:prstGeom prst="roundRect">
            <a:avLst/>
          </a:prstGeom>
          <a:solidFill>
            <a:srgbClr val="3D8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63836" y="2651760"/>
            <a:ext cx="877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EF2FF"/>
                </a:solidFill>
                <a:latin typeface="Inter"/>
              </a:rPr>
              <a:t>Reliable confidence ranges specifically for the highest-risk patients, where standard methods are shown to fail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5116" y="3566160"/>
            <a:ext cx="10238720" cy="914400"/>
          </a:xfrm>
          <a:prstGeom prst="rect">
            <a:avLst/>
          </a:prstGeom>
          <a:solidFill>
            <a:srgbClr val="0C111E"/>
          </a:solidFill>
          <a:ln w="12700">
            <a:solidFill>
              <a:srgbClr val="1C2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57996" y="3657600"/>
            <a:ext cx="731520" cy="731520"/>
          </a:xfrm>
          <a:prstGeom prst="ellipse">
            <a:avLst/>
          </a:prstGeom>
          <a:solidFill>
            <a:srgbClr val="F5A623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59164" y="4122115"/>
            <a:ext cx="82296" cy="131673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82608" y="4072737"/>
            <a:ext cx="82296" cy="23042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606052" y="4023360"/>
            <a:ext cx="82296" cy="32918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63836" y="3749040"/>
            <a:ext cx="877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EF2FF"/>
                </a:solidFill>
                <a:latin typeface="Inter"/>
              </a:rPr>
              <a:t>Plain mathematical formulas explaining how the model behaves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75116" y="4663440"/>
            <a:ext cx="10238720" cy="914400"/>
          </a:xfrm>
          <a:prstGeom prst="rect">
            <a:avLst/>
          </a:prstGeom>
          <a:solidFill>
            <a:srgbClr val="0C111E"/>
          </a:solidFill>
          <a:ln w="12700">
            <a:solidFill>
              <a:srgbClr val="1C2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57996" y="4754879"/>
            <a:ext cx="731520" cy="731520"/>
          </a:xfrm>
          <a:prstGeom prst="ellipse">
            <a:avLst/>
          </a:prstGeom>
          <a:solidFill>
            <a:srgbClr val="00C47D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59164" y="4956048"/>
            <a:ext cx="329184" cy="205740"/>
          </a:xfrm>
          <a:prstGeom prst="rect">
            <a:avLst/>
          </a:prstGeom>
          <a:solidFill>
            <a:srgbClr val="00C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 rot="33929200">
            <a:off x="1359164" y="5161788"/>
            <a:ext cx="329184" cy="205740"/>
          </a:xfrm>
          <a:prstGeom prst="roundRect">
            <a:avLst/>
          </a:prstGeom>
          <a:solidFill>
            <a:srgbClr val="00C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63836" y="4846320"/>
            <a:ext cx="877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EF2FF"/>
                </a:solidFill>
                <a:latin typeface="Inter"/>
              </a:rPr>
              <a:t>A complete, tested, working system — not just a research idea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8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75116" y="1371600"/>
            <a:ext cx="4753600" cy="2011680"/>
          </a:xfrm>
          <a:prstGeom prst="rect">
            <a:avLst/>
          </a:prstGeom>
          <a:solidFill>
            <a:srgbClr val="0C111E"/>
          </a:solidFill>
          <a:ln w="12700">
            <a:solidFill>
              <a:srgbClr val="1C2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49436" y="1645920"/>
            <a:ext cx="4204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EF2FF"/>
                </a:solidFill>
                <a:latin typeface="Poppins"/>
              </a:rPr>
              <a:t>Is this ready for real patients?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49436" y="2468880"/>
            <a:ext cx="4204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4A6380"/>
                </a:solidFill>
                <a:latin typeface="Inter"/>
              </a:rPr>
              <a:t>No — a research prototype, not a diagnostic device.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77356" y="1371600"/>
            <a:ext cx="4753600" cy="2011680"/>
          </a:xfrm>
          <a:prstGeom prst="rect">
            <a:avLst/>
          </a:prstGeom>
          <a:solidFill>
            <a:srgbClr val="0C111E"/>
          </a:solidFill>
          <a:ln w="12700">
            <a:solidFill>
              <a:srgbClr val="1C2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51676" y="1645920"/>
            <a:ext cx="4204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EF2FF"/>
                </a:solidFill>
                <a:latin typeface="Poppins"/>
              </a:rPr>
              <a:t>Why not just use a simpler model?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51676" y="2468880"/>
            <a:ext cx="4204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4A6380"/>
                </a:solidFill>
                <a:latin typeface="Inter"/>
              </a:rPr>
              <a:t>Because it would give no explainable structure or per-group confidence.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975116" y="3657600"/>
            <a:ext cx="4753600" cy="2011680"/>
          </a:xfrm>
          <a:prstGeom prst="rect">
            <a:avLst/>
          </a:prstGeom>
          <a:solidFill>
            <a:srgbClr val="0C111E"/>
          </a:solidFill>
          <a:ln w="12700">
            <a:solidFill>
              <a:srgbClr val="1C2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49436" y="3931920"/>
            <a:ext cx="4204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EF2FF"/>
                </a:solidFill>
                <a:latin typeface="Poppins"/>
              </a:rPr>
              <a:t>Could this just be overfit to one dataset?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9436" y="4754880"/>
            <a:ext cx="4204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4A6380"/>
                </a:solidFill>
                <a:latin typeface="Inter"/>
              </a:rPr>
              <a:t>No — tested on data collected two years later that it never saw.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77356" y="3657600"/>
            <a:ext cx="4753600" cy="2011680"/>
          </a:xfrm>
          <a:prstGeom prst="rect">
            <a:avLst/>
          </a:prstGeom>
          <a:solidFill>
            <a:srgbClr val="0C111E"/>
          </a:solidFill>
          <a:ln w="12700">
            <a:solidFill>
              <a:srgbClr val="1C2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51676" y="3931920"/>
            <a:ext cx="4204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EF2FF"/>
                </a:solidFill>
                <a:latin typeface="Poppins"/>
              </a:rPr>
              <a:t>Why such a wide range on the national estimate?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1676" y="4754880"/>
            <a:ext cx="4204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4A6380"/>
                </a:solidFill>
                <a:latin typeface="Inter"/>
              </a:rPr>
              <a:t>It honestly reflects a small subgroup sample size, not a flawed model.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8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75116" y="3429000"/>
            <a:ext cx="10238720" cy="25400"/>
          </a:xfrm>
          <a:prstGeom prst="rect">
            <a:avLst/>
          </a:prstGeom>
          <a:solidFill>
            <a:srgbClr val="1C29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75116" y="914400"/>
            <a:ext cx="1023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4A6380"/>
                </a:solidFill>
                <a:latin typeface="Inter"/>
              </a:rPr>
              <a:t>What we don't yet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2316" y="1645920"/>
            <a:ext cx="1023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EF2FF"/>
                </a:solidFill>
                <a:latin typeface="Inter"/>
              </a:rPr>
              <a:t>• Built from a single national data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2316" y="2194560"/>
            <a:ext cx="1023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EF2FF"/>
                </a:solidFill>
                <a:latin typeface="Inter"/>
              </a:rPr>
              <a:t>• A one-time snapshot, not tracked over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2316" y="2743200"/>
            <a:ext cx="1023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EF2FF"/>
                </a:solidFill>
                <a:latin typeface="Inter"/>
              </a:rPr>
              <a:t>• Not a diagnostic device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5116" y="3840480"/>
            <a:ext cx="1023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0C47D"/>
                </a:solidFill>
                <a:latin typeface="Inter"/>
              </a:rPr>
              <a:t>What's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32316" y="4572000"/>
            <a:ext cx="1023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EF2FF"/>
                </a:solidFill>
                <a:latin typeface="Inter"/>
              </a:rPr>
              <a:t>• Test on completely independent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32316" y="5120640"/>
            <a:ext cx="1023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EF2FF"/>
                </a:solidFill>
                <a:latin typeface="Inter"/>
              </a:rPr>
              <a:t>• Track real patients over 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2316" y="5669280"/>
            <a:ext cx="1023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EF2FF"/>
                </a:solidFill>
                <a:latin typeface="Inter"/>
              </a:rPr>
              <a:t>• Expand to more population groups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8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75116" y="2286000"/>
            <a:ext cx="10238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EEF2FF"/>
                </a:solidFill>
                <a:latin typeface="Poppins"/>
              </a:rPr>
              <a:t>Normal BMI is not metabolic health.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5116" y="3017520"/>
            <a:ext cx="10238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0C47D"/>
                </a:solidFill>
                <a:latin typeface="Poppins"/>
              </a:rPr>
              <a:t>We can show you where the patient actually is — and the route back.</a:t>
            </a:r>
          </a:p>
        </p:txBody>
      </p:sp>
      <p:sp>
        <p:nvSpPr>
          <p:cNvPr id="4" name="Rectangle 3"/>
          <p:cNvSpPr/>
          <p:nvPr/>
        </p:nvSpPr>
        <p:spPr>
          <a:xfrm>
            <a:off x="3808476" y="4114800"/>
            <a:ext cx="1188720" cy="365760"/>
          </a:xfrm>
          <a:prstGeom prst="rect">
            <a:avLst/>
          </a:prstGeom>
          <a:solidFill>
            <a:srgbClr val="0C111E"/>
          </a:solidFill>
          <a:ln w="12700">
            <a:solidFill>
              <a:srgbClr val="1C2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08476" y="41605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4A6380"/>
                </a:solidFill>
                <a:latin typeface="Inter"/>
              </a:rPr>
              <a:t>Tested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362956" y="4114800"/>
            <a:ext cx="1463040" cy="365760"/>
          </a:xfrm>
          <a:prstGeom prst="rect">
            <a:avLst/>
          </a:prstGeom>
          <a:solidFill>
            <a:srgbClr val="0C111E"/>
          </a:solidFill>
          <a:ln w="12700">
            <a:solidFill>
              <a:srgbClr val="1C2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62956" y="416052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4A6380"/>
                </a:solidFill>
                <a:latin typeface="Inter"/>
              </a:rPr>
              <a:t>Reproducible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7191756" y="4114800"/>
            <a:ext cx="1188720" cy="365760"/>
          </a:xfrm>
          <a:prstGeom prst="rect">
            <a:avLst/>
          </a:prstGeom>
          <a:solidFill>
            <a:srgbClr val="0C111E"/>
          </a:solidFill>
          <a:ln w="12700">
            <a:solidFill>
              <a:srgbClr val="1C2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91756" y="41605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4A6380"/>
                </a:solidFill>
                <a:latin typeface="Inter"/>
              </a:rPr>
              <a:t>Open 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5116" y="5486400"/>
            <a:ext cx="10238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4A6380"/>
                </a:solidFill>
                <a:latin typeface="Inter"/>
              </a:rPr>
              <a:t>Thank you.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